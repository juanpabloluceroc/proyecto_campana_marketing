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  <p:sldId id="268" r:id="rId15"/>
    <p:sldId id="269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279833-B9E7-4139-8501-3640AA41B5F8}" v="132" dt="2026-03-14T14:30:25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Pablo Lucero" userId="7791b9b7135a2102" providerId="LiveId" clId="{35B47D93-206B-44E1-865C-77F10A48B05A}"/>
    <pc:docChg chg="undo redo custSel addSld modSld sldOrd">
      <pc:chgData name="Juan Pablo Lucero" userId="7791b9b7135a2102" providerId="LiveId" clId="{35B47D93-206B-44E1-865C-77F10A48B05A}" dt="2026-03-14T15:10:44.108" v="1357" actId="1037"/>
      <pc:docMkLst>
        <pc:docMk/>
      </pc:docMkLst>
      <pc:sldChg chg="addSp delSp modSp mod">
        <pc:chgData name="Juan Pablo Lucero" userId="7791b9b7135a2102" providerId="LiveId" clId="{35B47D93-206B-44E1-865C-77F10A48B05A}" dt="2026-03-14T12:48:51.280" v="828" actId="165"/>
        <pc:sldMkLst>
          <pc:docMk/>
          <pc:sldMk cId="0" sldId="256"/>
        </pc:sldMkLst>
        <pc:spChg chg="mod">
          <ac:chgData name="Juan Pablo Lucero" userId="7791b9b7135a2102" providerId="LiveId" clId="{35B47D93-206B-44E1-865C-77F10A48B05A}" dt="2026-03-14T12:31:58.410" v="500" actId="6549"/>
          <ac:spMkLst>
            <pc:docMk/>
            <pc:sldMk cId="0" sldId="256"/>
            <ac:spMk id="6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32:19.478" v="526" actId="10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32:51.290" v="567" actId="1036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Juan Pablo Lucero" userId="7791b9b7135a2102" providerId="LiveId" clId="{35B47D93-206B-44E1-865C-77F10A48B05A}" dt="2026-03-14T12:32:25.472" v="529" actId="1076"/>
          <ac:spMkLst>
            <pc:docMk/>
            <pc:sldMk cId="0" sldId="256"/>
            <ac:spMk id="9" creationId="{B936C61C-6784-7478-E169-85DCB9364B9D}"/>
          </ac:spMkLst>
        </pc:spChg>
        <pc:spChg chg="add mod">
          <ac:chgData name="Juan Pablo Lucero" userId="7791b9b7135a2102" providerId="LiveId" clId="{35B47D93-206B-44E1-865C-77F10A48B05A}" dt="2026-03-14T12:33:37.531" v="631" actId="20577"/>
          <ac:spMkLst>
            <pc:docMk/>
            <pc:sldMk cId="0" sldId="256"/>
            <ac:spMk id="10" creationId="{5F932011-CD4C-3622-16D6-1BA5D8CC2A11}"/>
          </ac:spMkLst>
        </pc:spChg>
        <pc:spChg chg="add mod topLvl">
          <ac:chgData name="Juan Pablo Lucero" userId="7791b9b7135a2102" providerId="LiveId" clId="{35B47D93-206B-44E1-865C-77F10A48B05A}" dt="2026-03-14T12:48:51.280" v="828" actId="165"/>
          <ac:spMkLst>
            <pc:docMk/>
            <pc:sldMk cId="0" sldId="256"/>
            <ac:spMk id="11" creationId="{BA1D254F-7A32-5D91-186A-35DCB308DC1F}"/>
          </ac:spMkLst>
        </pc:spChg>
        <pc:grpChg chg="add del mod">
          <ac:chgData name="Juan Pablo Lucero" userId="7791b9b7135a2102" providerId="LiveId" clId="{35B47D93-206B-44E1-865C-77F10A48B05A}" dt="2026-03-14T12:48:51.280" v="828" actId="165"/>
          <ac:grpSpMkLst>
            <pc:docMk/>
            <pc:sldMk cId="0" sldId="256"/>
            <ac:grpSpMk id="12" creationId="{8A26F4D3-F1BA-2FBC-9063-F9B7ED26B52D}"/>
          </ac:grpSpMkLst>
        </pc:grpChg>
        <pc:picChg chg="add del mod">
          <ac:chgData name="Juan Pablo Lucero" userId="7791b9b7135a2102" providerId="LiveId" clId="{35B47D93-206B-44E1-865C-77F10A48B05A}" dt="2026-03-14T12:45:49.876" v="711" actId="478"/>
          <ac:picMkLst>
            <pc:docMk/>
            <pc:sldMk cId="0" sldId="256"/>
            <ac:picMk id="1026" creationId="{04A50F19-7DD5-A72B-C7B2-DE0C8B67101B}"/>
          </ac:picMkLst>
        </pc:picChg>
        <pc:picChg chg="add mod topLvl">
          <ac:chgData name="Juan Pablo Lucero" userId="7791b9b7135a2102" providerId="LiveId" clId="{35B47D93-206B-44E1-865C-77F10A48B05A}" dt="2026-03-14T12:48:51.280" v="828" actId="165"/>
          <ac:picMkLst>
            <pc:docMk/>
            <pc:sldMk cId="0" sldId="256"/>
            <ac:picMk id="1028" creationId="{FC524C87-780C-7594-04BB-E67B13BBB61A}"/>
          </ac:picMkLst>
        </pc:picChg>
      </pc:sldChg>
      <pc:sldChg chg="modSp mod">
        <pc:chgData name="Juan Pablo Lucero" userId="7791b9b7135a2102" providerId="LiveId" clId="{35B47D93-206B-44E1-865C-77F10A48B05A}" dt="2026-03-14T14:50:52.320" v="1271" actId="20577"/>
        <pc:sldMkLst>
          <pc:docMk/>
          <pc:sldMk cId="0" sldId="257"/>
        </pc:sldMkLst>
        <pc:spChg chg="mod">
          <ac:chgData name="Juan Pablo Lucero" userId="7791b9b7135a2102" providerId="LiveId" clId="{35B47D93-206B-44E1-865C-77F10A48B05A}" dt="2026-03-14T14:50:52.320" v="1271" actId="20577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Juan Pablo Lucero" userId="7791b9b7135a2102" providerId="LiveId" clId="{35B47D93-206B-44E1-865C-77F10A48B05A}" dt="2026-03-14T14:53:47.410" v="1349" actId="1076"/>
        <pc:sldMkLst>
          <pc:docMk/>
          <pc:sldMk cId="0" sldId="258"/>
        </pc:sldMkLst>
        <pc:spChg chg="mod">
          <ac:chgData name="Juan Pablo Lucero" userId="7791b9b7135a2102" providerId="LiveId" clId="{35B47D93-206B-44E1-865C-77F10A48B05A}" dt="2026-03-14T14:53:43.122" v="1347" actId="313"/>
          <ac:spMkLst>
            <pc:docMk/>
            <pc:sldMk cId="0" sldId="258"/>
            <ac:spMk id="19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4:53:47.410" v="1349" actId="1076"/>
          <ac:spMkLst>
            <pc:docMk/>
            <pc:sldMk cId="0" sldId="258"/>
            <ac:spMk id="21" creationId="{00000000-0000-0000-0000-000000000000}"/>
          </ac:spMkLst>
        </pc:spChg>
      </pc:sldChg>
      <pc:sldChg chg="modSp mod">
        <pc:chgData name="Juan Pablo Lucero" userId="7791b9b7135a2102" providerId="LiveId" clId="{35B47D93-206B-44E1-865C-77F10A48B05A}" dt="2026-03-14T15:10:44.108" v="1357" actId="1037"/>
        <pc:sldMkLst>
          <pc:docMk/>
          <pc:sldMk cId="0" sldId="260"/>
        </pc:sldMkLst>
        <pc:spChg chg="mod">
          <ac:chgData name="Juan Pablo Lucero" userId="7791b9b7135a2102" providerId="LiveId" clId="{35B47D93-206B-44E1-865C-77F10A48B05A}" dt="2026-03-14T14:32:09.353" v="1222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4:30:56.120" v="1170" actId="14100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4:31:46.831" v="1196" actId="14100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4:31:51.052" v="1212" actId="1038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4:32:20.498" v="1234" actId="1410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5:10:44.108" v="1357" actId="1037"/>
          <ac:spMkLst>
            <pc:docMk/>
            <pc:sldMk cId="0" sldId="260"/>
            <ac:spMk id="18" creationId="{00000000-0000-0000-0000-000000000000}"/>
          </ac:spMkLst>
        </pc:spChg>
      </pc:sldChg>
      <pc:sldChg chg="delSp modSp mod">
        <pc:chgData name="Juan Pablo Lucero" userId="7791b9b7135a2102" providerId="LiveId" clId="{35B47D93-206B-44E1-865C-77F10A48B05A}" dt="2026-03-14T13:44:40.511" v="877" actId="20577"/>
        <pc:sldMkLst>
          <pc:docMk/>
          <pc:sldMk cId="0" sldId="261"/>
        </pc:sldMkLst>
        <pc:spChg chg="mod">
          <ac:chgData name="Juan Pablo Lucero" userId="7791b9b7135a2102" providerId="LiveId" clId="{35B47D93-206B-44E1-865C-77F10A48B05A}" dt="2026-03-14T12:35:53.555" v="700" actId="10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35:53.555" v="700" actId="10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35:53.555" v="700" actId="10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35:46.384" v="685" actId="1035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35:46.384" v="685" actId="1035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35:46.384" v="685" actId="1035"/>
          <ac:spMkLst>
            <pc:docMk/>
            <pc:sldMk cId="0" sldId="261"/>
            <ac:spMk id="12" creationId="{00000000-0000-0000-0000-000000000000}"/>
          </ac:spMkLst>
        </pc:spChg>
        <pc:spChg chg="del">
          <ac:chgData name="Juan Pablo Lucero" userId="7791b9b7135a2102" providerId="LiveId" clId="{35B47D93-206B-44E1-865C-77F10A48B05A}" dt="2026-03-14T12:35:29.289" v="637" actId="478"/>
          <ac:spMkLst>
            <pc:docMk/>
            <pc:sldMk cId="0" sldId="261"/>
            <ac:spMk id="13" creationId="{00000000-0000-0000-0000-000000000000}"/>
          </ac:spMkLst>
        </pc:spChg>
        <pc:spChg chg="del">
          <ac:chgData name="Juan Pablo Lucero" userId="7791b9b7135a2102" providerId="LiveId" clId="{35B47D93-206B-44E1-865C-77F10A48B05A}" dt="2026-03-14T12:35:29.289" v="637" actId="478"/>
          <ac:spMkLst>
            <pc:docMk/>
            <pc:sldMk cId="0" sldId="261"/>
            <ac:spMk id="14" creationId="{00000000-0000-0000-0000-000000000000}"/>
          </ac:spMkLst>
        </pc:spChg>
        <pc:spChg chg="del">
          <ac:chgData name="Juan Pablo Lucero" userId="7791b9b7135a2102" providerId="LiveId" clId="{35B47D93-206B-44E1-865C-77F10A48B05A}" dt="2026-03-14T12:35:29.289" v="637" actId="478"/>
          <ac:spMkLst>
            <pc:docMk/>
            <pc:sldMk cId="0" sldId="261"/>
            <ac:spMk id="15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36:02.574" v="703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35:37.011" v="663" actId="103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35:37.011" v="663" actId="103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3:44:40.511" v="877" actId="20577"/>
          <ac:spMkLst>
            <pc:docMk/>
            <pc:sldMk cId="0" sldId="261"/>
            <ac:spMk id="23" creationId="{00000000-0000-0000-0000-000000000000}"/>
          </ac:spMkLst>
        </pc:spChg>
      </pc:sldChg>
      <pc:sldChg chg="modSp mod">
        <pc:chgData name="Juan Pablo Lucero" userId="7791b9b7135a2102" providerId="LiveId" clId="{35B47D93-206B-44E1-865C-77F10A48B05A}" dt="2026-03-14T13:56:05.657" v="1089" actId="20577"/>
        <pc:sldMkLst>
          <pc:docMk/>
          <pc:sldMk cId="0" sldId="264"/>
        </pc:sldMkLst>
        <pc:spChg chg="mod">
          <ac:chgData name="Juan Pablo Lucero" userId="7791b9b7135a2102" providerId="LiveId" clId="{35B47D93-206B-44E1-865C-77F10A48B05A}" dt="2026-03-14T13:56:05.657" v="1089" actId="20577"/>
          <ac:spMkLst>
            <pc:docMk/>
            <pc:sldMk cId="0" sldId="264"/>
            <ac:spMk id="20" creationId="{00000000-0000-0000-0000-000000000000}"/>
          </ac:spMkLst>
        </pc:spChg>
      </pc:sldChg>
      <pc:sldChg chg="ord">
        <pc:chgData name="Juan Pablo Lucero" userId="7791b9b7135a2102" providerId="LiveId" clId="{35B47D93-206B-44E1-865C-77F10A48B05A}" dt="2026-03-14T14:46:53.965" v="1267"/>
        <pc:sldMkLst>
          <pc:docMk/>
          <pc:sldMk cId="0" sldId="265"/>
        </pc:sldMkLst>
      </pc:sldChg>
      <pc:sldChg chg="addSp delSp modSp mod">
        <pc:chgData name="Juan Pablo Lucero" userId="7791b9b7135a2102" providerId="LiveId" clId="{35B47D93-206B-44E1-865C-77F10A48B05A}" dt="2026-03-14T12:04:01.220" v="408" actId="20577"/>
        <pc:sldMkLst>
          <pc:docMk/>
          <pc:sldMk cId="0" sldId="267"/>
        </pc:sldMkLst>
        <pc:spChg chg="mod">
          <ac:chgData name="Juan Pablo Lucero" userId="7791b9b7135a2102" providerId="LiveId" clId="{35B47D93-206B-44E1-865C-77F10A48B05A}" dt="2026-03-14T11:57:21.565" v="83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1:58:05.360" v="119" actId="20577"/>
          <ac:spMkLst>
            <pc:docMk/>
            <pc:sldMk cId="0" sldId="267"/>
            <ac:spMk id="7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04:01.220" v="408" actId="20577"/>
          <ac:spMkLst>
            <pc:docMk/>
            <pc:sldMk cId="0" sldId="267"/>
            <ac:spMk id="9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1:58:40.413" v="198" actId="2057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00:26.002" v="268" actId="20577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uan Pablo Lucero" userId="7791b9b7135a2102" providerId="LiveId" clId="{35B47D93-206B-44E1-865C-77F10A48B05A}" dt="2026-03-14T12:01:07.502" v="300" actId="20577"/>
          <ac:spMkLst>
            <pc:docMk/>
            <pc:sldMk cId="0" sldId="267"/>
            <ac:spMk id="15" creationId="{00000000-0000-0000-0000-000000000000}"/>
          </ac:spMkLst>
        </pc:spChg>
        <pc:picChg chg="add del mod">
          <ac:chgData name="Juan Pablo Lucero" userId="7791b9b7135a2102" providerId="LiveId" clId="{35B47D93-206B-44E1-865C-77F10A48B05A}" dt="2026-03-14T11:56:49.080" v="7" actId="478"/>
          <ac:picMkLst>
            <pc:docMk/>
            <pc:sldMk cId="0" sldId="267"/>
            <ac:picMk id="17" creationId="{23966A2F-306C-75C0-3718-8EFA305E2E43}"/>
          </ac:picMkLst>
        </pc:picChg>
      </pc:sldChg>
      <pc:sldChg chg="modSp mod">
        <pc:chgData name="Juan Pablo Lucero" userId="7791b9b7135a2102" providerId="LiveId" clId="{35B47D93-206B-44E1-865C-77F10A48B05A}" dt="2026-03-14T12:05:29.503" v="495" actId="20577"/>
        <pc:sldMkLst>
          <pc:docMk/>
          <pc:sldMk cId="0" sldId="268"/>
        </pc:sldMkLst>
        <pc:spChg chg="mod">
          <ac:chgData name="Juan Pablo Lucero" userId="7791b9b7135a2102" providerId="LiveId" clId="{35B47D93-206B-44E1-865C-77F10A48B05A}" dt="2026-03-14T12:05:29.503" v="495" actId="20577"/>
          <ac:spMkLst>
            <pc:docMk/>
            <pc:sldMk cId="0" sldId="268"/>
            <ac:spMk id="5" creationId="{00000000-0000-0000-0000-000000000000}"/>
          </ac:spMkLst>
        </pc:spChg>
      </pc:sldChg>
      <pc:sldChg chg="delSp modSp mod">
        <pc:chgData name="Juan Pablo Lucero" userId="7791b9b7135a2102" providerId="LiveId" clId="{35B47D93-206B-44E1-865C-77F10A48B05A}" dt="2026-03-14T12:29:34.545" v="499" actId="20577"/>
        <pc:sldMkLst>
          <pc:docMk/>
          <pc:sldMk cId="0" sldId="269"/>
        </pc:sldMkLst>
        <pc:spChg chg="mod">
          <ac:chgData name="Juan Pablo Lucero" userId="7791b9b7135a2102" providerId="LiveId" clId="{35B47D93-206B-44E1-865C-77F10A48B05A}" dt="2026-03-14T12:29:34.545" v="499" actId="20577"/>
          <ac:spMkLst>
            <pc:docMk/>
            <pc:sldMk cId="0" sldId="269"/>
            <ac:spMk id="6" creationId="{00000000-0000-0000-0000-000000000000}"/>
          </ac:spMkLst>
        </pc:spChg>
        <pc:spChg chg="del">
          <ac:chgData name="Juan Pablo Lucero" userId="7791b9b7135a2102" providerId="LiveId" clId="{35B47D93-206B-44E1-865C-77F10A48B05A}" dt="2026-03-14T12:29:18.728" v="496" actId="478"/>
          <ac:spMkLst>
            <pc:docMk/>
            <pc:sldMk cId="0" sldId="269"/>
            <ac:spMk id="7" creationId="{00000000-0000-0000-0000-000000000000}"/>
          </ac:spMkLst>
        </pc:spChg>
      </pc:sldChg>
      <pc:sldChg chg="addSp delSp modSp add mod">
        <pc:chgData name="Juan Pablo Lucero" userId="7791b9b7135a2102" providerId="LiveId" clId="{35B47D93-206B-44E1-865C-77F10A48B05A}" dt="2026-03-14T14:24:02.783" v="1111" actId="14100"/>
        <pc:sldMkLst>
          <pc:docMk/>
          <pc:sldMk cId="1051089123" sldId="270"/>
        </pc:sldMkLst>
        <pc:spChg chg="del">
          <ac:chgData name="Juan Pablo Lucero" userId="7791b9b7135a2102" providerId="LiveId" clId="{35B47D93-206B-44E1-865C-77F10A48B05A}" dt="2026-03-14T14:16:42.511" v="1091" actId="478"/>
          <ac:spMkLst>
            <pc:docMk/>
            <pc:sldMk cId="1051089123" sldId="270"/>
            <ac:spMk id="4" creationId="{FBDDF7AD-C3AF-1F1D-A2D2-7E23702CCF30}"/>
          </ac:spMkLst>
        </pc:spChg>
        <pc:spChg chg="del">
          <ac:chgData name="Juan Pablo Lucero" userId="7791b9b7135a2102" providerId="LiveId" clId="{35B47D93-206B-44E1-865C-77F10A48B05A}" dt="2026-03-14T14:16:42.511" v="1091" actId="478"/>
          <ac:spMkLst>
            <pc:docMk/>
            <pc:sldMk cId="1051089123" sldId="270"/>
            <ac:spMk id="5" creationId="{827FB7E0-9EA2-A5D3-83F1-82FFCF0B4EFA}"/>
          </ac:spMkLst>
        </pc:spChg>
        <pc:spChg chg="del">
          <ac:chgData name="Juan Pablo Lucero" userId="7791b9b7135a2102" providerId="LiveId" clId="{35B47D93-206B-44E1-865C-77F10A48B05A}" dt="2026-03-14T14:16:42.511" v="1091" actId="478"/>
          <ac:spMkLst>
            <pc:docMk/>
            <pc:sldMk cId="1051089123" sldId="270"/>
            <ac:spMk id="8" creationId="{EA43F3F2-F723-A295-E2AE-23FFEA87AAFB}"/>
          </ac:spMkLst>
        </pc:spChg>
        <pc:spChg chg="del">
          <ac:chgData name="Juan Pablo Lucero" userId="7791b9b7135a2102" providerId="LiveId" clId="{35B47D93-206B-44E1-865C-77F10A48B05A}" dt="2026-03-14T14:16:42.511" v="1091" actId="478"/>
          <ac:spMkLst>
            <pc:docMk/>
            <pc:sldMk cId="1051089123" sldId="270"/>
            <ac:spMk id="9" creationId="{CFE5C0FE-D9BD-3895-87A1-4203AB3E6603}"/>
          </ac:spMkLst>
        </pc:spChg>
        <pc:spChg chg="del">
          <ac:chgData name="Juan Pablo Lucero" userId="7791b9b7135a2102" providerId="LiveId" clId="{35B47D93-206B-44E1-865C-77F10A48B05A}" dt="2026-03-14T14:16:42.511" v="1091" actId="478"/>
          <ac:spMkLst>
            <pc:docMk/>
            <pc:sldMk cId="1051089123" sldId="270"/>
            <ac:spMk id="10" creationId="{9D37AAEB-D3AE-30B4-BD35-89EC7845766D}"/>
          </ac:spMkLst>
        </pc:spChg>
        <pc:spChg chg="del">
          <ac:chgData name="Juan Pablo Lucero" userId="7791b9b7135a2102" providerId="LiveId" clId="{35B47D93-206B-44E1-865C-77F10A48B05A}" dt="2026-03-14T14:16:42.511" v="1091" actId="478"/>
          <ac:spMkLst>
            <pc:docMk/>
            <pc:sldMk cId="1051089123" sldId="270"/>
            <ac:spMk id="11" creationId="{6CD0DF2F-8C12-802A-05E1-1BB7C7EAB204}"/>
          </ac:spMkLst>
        </pc:spChg>
        <pc:spChg chg="del">
          <ac:chgData name="Juan Pablo Lucero" userId="7791b9b7135a2102" providerId="LiveId" clId="{35B47D93-206B-44E1-865C-77F10A48B05A}" dt="2026-03-14T14:16:42.511" v="1091" actId="478"/>
          <ac:spMkLst>
            <pc:docMk/>
            <pc:sldMk cId="1051089123" sldId="270"/>
            <ac:spMk id="12" creationId="{AECA4ABB-266F-AFBC-F953-B385731034C2}"/>
          </ac:spMkLst>
        </pc:spChg>
        <pc:spChg chg="del">
          <ac:chgData name="Juan Pablo Lucero" userId="7791b9b7135a2102" providerId="LiveId" clId="{35B47D93-206B-44E1-865C-77F10A48B05A}" dt="2026-03-14T14:16:42.511" v="1091" actId="478"/>
          <ac:spMkLst>
            <pc:docMk/>
            <pc:sldMk cId="1051089123" sldId="270"/>
            <ac:spMk id="13" creationId="{DE2C32D3-00E1-755A-651E-DBA803E22C10}"/>
          </ac:spMkLst>
        </pc:spChg>
        <pc:spChg chg="del">
          <ac:chgData name="Juan Pablo Lucero" userId="7791b9b7135a2102" providerId="LiveId" clId="{35B47D93-206B-44E1-865C-77F10A48B05A}" dt="2026-03-14T14:16:42.511" v="1091" actId="478"/>
          <ac:spMkLst>
            <pc:docMk/>
            <pc:sldMk cId="1051089123" sldId="270"/>
            <ac:spMk id="14" creationId="{7CFE32DB-7533-1DAE-DF44-B8ACF3A4B527}"/>
          </ac:spMkLst>
        </pc:spChg>
        <pc:spChg chg="del">
          <ac:chgData name="Juan Pablo Lucero" userId="7791b9b7135a2102" providerId="LiveId" clId="{35B47D93-206B-44E1-865C-77F10A48B05A}" dt="2026-03-14T14:16:42.511" v="1091" actId="478"/>
          <ac:spMkLst>
            <pc:docMk/>
            <pc:sldMk cId="1051089123" sldId="270"/>
            <ac:spMk id="15" creationId="{32C22D3D-942F-E0C9-4456-8A3A08E80EEB}"/>
          </ac:spMkLst>
        </pc:spChg>
        <pc:picChg chg="add mod">
          <ac:chgData name="Juan Pablo Lucero" userId="7791b9b7135a2102" providerId="LiveId" clId="{35B47D93-206B-44E1-865C-77F10A48B05A}" dt="2026-03-14T14:18:49.455" v="1104" actId="1076"/>
          <ac:picMkLst>
            <pc:docMk/>
            <pc:sldMk cId="1051089123" sldId="270"/>
            <ac:picMk id="17" creationId="{45CA53B3-F8D7-71B4-0447-8BA955D1C767}"/>
          </ac:picMkLst>
        </pc:picChg>
        <pc:picChg chg="add del mod">
          <ac:chgData name="Juan Pablo Lucero" userId="7791b9b7135a2102" providerId="LiveId" clId="{35B47D93-206B-44E1-865C-77F10A48B05A}" dt="2026-03-14T14:23:55.601" v="1108" actId="478"/>
          <ac:picMkLst>
            <pc:docMk/>
            <pc:sldMk cId="1051089123" sldId="270"/>
            <ac:picMk id="19" creationId="{54C225B4-A6B2-9C6D-A0DC-21E4D49E4C13}"/>
          </ac:picMkLst>
        </pc:picChg>
        <pc:picChg chg="add mod">
          <ac:chgData name="Juan Pablo Lucero" userId="7791b9b7135a2102" providerId="LiveId" clId="{35B47D93-206B-44E1-865C-77F10A48B05A}" dt="2026-03-14T14:24:02.783" v="1111" actId="14100"/>
          <ac:picMkLst>
            <pc:docMk/>
            <pc:sldMk cId="1051089123" sldId="270"/>
            <ac:picMk id="21" creationId="{E2F4E684-5D63-7730-7B20-B5DA3085915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ANALISIS DE CAMPANA DE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dirty="0">
                <a:solidFill>
                  <a:srgbClr val="FFFFFF"/>
                </a:solidFill>
                <a:latin typeface="Calibri"/>
              </a:rPr>
              <a:t>Depositos a </a:t>
            </a:r>
            <a:r>
              <a:rPr sz="2200" b="0" dirty="0" err="1">
                <a:solidFill>
                  <a:srgbClr val="FFFFFF"/>
                </a:solidFill>
                <a:latin typeface="Calibri"/>
              </a:rPr>
              <a:t>Plazo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 - Banco Santander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926080"/>
            <a:ext cx="1088136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dirty="0">
                <a:solidFill>
                  <a:srgbClr val="FFFFFF"/>
                </a:solidFill>
                <a:latin typeface="Calibri"/>
              </a:rPr>
              <a:t>Dataset: 41,376 </a:t>
            </a:r>
            <a:r>
              <a:rPr sz="1500" b="0" dirty="0" err="1">
                <a:solidFill>
                  <a:srgbClr val="FFFFFF"/>
                </a:solidFill>
                <a:latin typeface="Calibri"/>
              </a:rPr>
              <a:t>clientes</a:t>
            </a:r>
            <a:r>
              <a:rPr sz="1500" b="0" dirty="0">
                <a:solidFill>
                  <a:srgbClr val="FFFFFF"/>
                </a:solidFill>
                <a:latin typeface="Calibri"/>
              </a:rPr>
              <a:t>  |  21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CCCCCC"/>
                </a:solidFill>
                <a:latin typeface="Calibri"/>
              </a:rPr>
              <a:t>Modulo 3 - Python para </a:t>
            </a:r>
            <a:r>
              <a:rPr sz="1300" b="0" dirty="0" err="1">
                <a:solidFill>
                  <a:srgbClr val="CCCCCC"/>
                </a:solidFill>
                <a:latin typeface="Calibri"/>
              </a:rPr>
              <a:t>Analitica</a:t>
            </a:r>
            <a:r>
              <a:rPr sz="1300" b="0" dirty="0">
                <a:solidFill>
                  <a:srgbClr val="CCCCCC"/>
                </a:solidFill>
                <a:latin typeface="Calibri"/>
              </a:rPr>
              <a:t> de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35857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CCCCCC"/>
                </a:solidFill>
                <a:latin typeface="Calibri"/>
              </a:rPr>
              <a:t>Marzo 2026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5F932011-CD4C-3622-16D6-1BA5D8CC2A11}"/>
              </a:ext>
            </a:extLst>
          </p:cNvPr>
          <p:cNvSpPr txBox="1"/>
          <p:nvPr/>
        </p:nvSpPr>
        <p:spPr>
          <a:xfrm>
            <a:off x="640080" y="5760720"/>
            <a:ext cx="108813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1300" b="0" dirty="0">
                <a:solidFill>
                  <a:srgbClr val="CCCCCC"/>
                </a:solidFill>
                <a:latin typeface="Calibri"/>
              </a:rPr>
              <a:t>Equipo 6</a:t>
            </a:r>
            <a:r>
              <a:rPr sz="1300" b="0" dirty="0">
                <a:solidFill>
                  <a:srgbClr val="CCCCCC"/>
                </a:solidFill>
                <a:latin typeface="Calibri"/>
              </a:rPr>
              <a:t> </a:t>
            </a:r>
            <a:r>
              <a:rPr lang="es-EC" sz="1300" b="0" dirty="0">
                <a:solidFill>
                  <a:srgbClr val="CCCCCC"/>
                </a:solidFill>
                <a:latin typeface="Calibri"/>
              </a:rPr>
              <a:t>–</a:t>
            </a:r>
            <a:r>
              <a:rPr sz="1300" b="0" dirty="0">
                <a:solidFill>
                  <a:srgbClr val="CCCCCC"/>
                </a:solidFill>
                <a:latin typeface="Calibri"/>
              </a:rPr>
              <a:t> </a:t>
            </a:r>
            <a:r>
              <a:rPr lang="es-MX" sz="1300" b="0" dirty="0">
                <a:solidFill>
                  <a:srgbClr val="CCCCCC"/>
                </a:solidFill>
                <a:latin typeface="Calibri"/>
              </a:rPr>
              <a:t>Evelyn Diaz; Aaron Lino, Juan Pablo Lucero</a:t>
            </a:r>
            <a:endParaRPr sz="1300" b="0" dirty="0">
              <a:solidFill>
                <a:srgbClr val="CCCCCC"/>
              </a:solidFill>
              <a:latin typeface="Calibri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A26F4D3-F1BA-2FBC-9063-F9B7ED26B52D}"/>
              </a:ext>
            </a:extLst>
          </p:cNvPr>
          <p:cNvGrpSpPr/>
          <p:nvPr/>
        </p:nvGrpSpPr>
        <p:grpSpPr>
          <a:xfrm>
            <a:off x="10363201" y="155868"/>
            <a:ext cx="1604146" cy="1718651"/>
            <a:chOff x="9210958" y="473564"/>
            <a:chExt cx="2381250" cy="2381250"/>
          </a:xfrm>
        </p:grpSpPr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BA1D254F-7A32-5D91-186A-35DCB308DC1F}"/>
                </a:ext>
              </a:extLst>
            </p:cNvPr>
            <p:cNvSpPr/>
            <p:nvPr/>
          </p:nvSpPr>
          <p:spPr>
            <a:xfrm>
              <a:off x="9340948" y="571258"/>
              <a:ext cx="2180492" cy="2203939"/>
            </a:xfrm>
            <a:prstGeom prst="rect">
              <a:avLst/>
            </a:prstGeom>
            <a:solidFill>
              <a:schemeClr val="bg1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C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FC524C87-780C-7594-04BB-E67B13BBB6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10958" y="473564"/>
              <a:ext cx="2381250" cy="2381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CONTEXTO Y PROBLEMA DE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1280160"/>
            <a:ext cx="5175504" cy="3291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Que hace el banco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El Banco Santander promueve depositos a plazo mediante llamadas telefonicas.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Los agentes contactan a clientes existentes.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En muchos casos se realizan multiples llamadas.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Objetivo: que el cliente acepte suscribirse al deposito a plazo.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188720"/>
            <a:ext cx="5669280" cy="3474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36208" y="1280160"/>
            <a:ext cx="5449824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E65200"/>
                </a:solidFill>
                <a:latin typeface="Calibri"/>
              </a:rPr>
              <a:t>Problema</a:t>
            </a:r>
            <a:r>
              <a:rPr sz="1400" b="1" dirty="0">
                <a:solidFill>
                  <a:srgbClr val="E652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E65200"/>
                </a:solidFill>
                <a:latin typeface="Calibri"/>
              </a:rPr>
              <a:t>detectado</a:t>
            </a:r>
            <a:endParaRPr sz="1400" b="1" dirty="0">
              <a:solidFill>
                <a:srgbClr val="E6520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dirty="0" err="1">
                <a:solidFill>
                  <a:srgbClr val="333333"/>
                </a:solidFill>
                <a:latin typeface="Calibri"/>
              </a:rPr>
              <a:t>Muchas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llamadas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no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generan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conversiones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Bef>
                <a:spcPts val="300"/>
              </a:spcBef>
            </a:pPr>
            <a:r>
              <a:rPr sz="1200" dirty="0" err="1">
                <a:solidFill>
                  <a:srgbClr val="333333"/>
                </a:solidFill>
                <a:latin typeface="Calibri"/>
              </a:rPr>
              <a:t>Algunas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campa</a:t>
            </a:r>
            <a:r>
              <a:rPr lang="es-EC" sz="1200" dirty="0">
                <a:solidFill>
                  <a:srgbClr val="333333"/>
                </a:solidFill>
                <a:latin typeface="Calibri"/>
              </a:rPr>
              <a:t>ñ</a:t>
            </a:r>
            <a:r>
              <a:rPr sz="1200" dirty="0">
                <a:solidFill>
                  <a:srgbClr val="333333"/>
                </a:solidFill>
                <a:latin typeface="Calibri"/>
              </a:rPr>
              <a:t>as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requieren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demasiados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contactos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333333"/>
                </a:solidFill>
                <a:latin typeface="Calibri"/>
              </a:rPr>
              <a:t>No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esta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claro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que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perfil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cliente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responde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mejor</a:t>
            </a:r>
            <a:r>
              <a:rPr sz="120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Bef>
                <a:spcPts val="300"/>
              </a:spcBef>
            </a:pPr>
            <a:r>
              <a:rPr sz="1200" dirty="0" err="1">
                <a:solidFill>
                  <a:srgbClr val="333333"/>
                </a:solidFill>
                <a:latin typeface="Calibri"/>
              </a:rPr>
              <a:t>Pregunta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clave: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que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caracteristicas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hacen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mas probable</a:t>
            </a:r>
          </a:p>
          <a:p>
            <a:pPr algn="l">
              <a:spcBef>
                <a:spcPts val="300"/>
              </a:spcBef>
            </a:pPr>
            <a:r>
              <a:rPr sz="1200" dirty="0" err="1">
                <a:solidFill>
                  <a:srgbClr val="333333"/>
                </a:solidFill>
                <a:latin typeface="Calibri"/>
              </a:rPr>
              <a:t>que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un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cliente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acepte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la campa</a:t>
            </a:r>
            <a:r>
              <a:rPr lang="es-EC" sz="1200" dirty="0">
                <a:solidFill>
                  <a:srgbClr val="333333"/>
                </a:solidFill>
                <a:latin typeface="Calibri"/>
              </a:rPr>
              <a:t>ñ</a:t>
            </a:r>
            <a:r>
              <a:rPr sz="1200" dirty="0">
                <a:solidFill>
                  <a:srgbClr val="333333"/>
                </a:solidFill>
                <a:latin typeface="Calibri"/>
              </a:rPr>
              <a:t>a?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4937760"/>
            <a:ext cx="114300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5029200"/>
            <a:ext cx="1121054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Costos del problema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1. Costos operativos elevados por llamadas sin resultado.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2. Baja eficiencia general de las campanas.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CALIDAD Y PREPARACION DE DATOS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65176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C0000"/>
                </a:solidFill>
                <a:latin typeface="Calibri"/>
              </a:rPr>
              <a:t>41,388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Registros originales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188720"/>
            <a:ext cx="265176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40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65200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Duplicados eliminados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265176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7D32"/>
                </a:solidFill>
                <a:latin typeface="Calibri"/>
              </a:rPr>
              <a:t>41,376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Registros finales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188720"/>
            <a:ext cx="2651760" cy="1371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0" y="128016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CC0000"/>
                </a:solidFill>
                <a:latin typeface="Calibri"/>
              </a:rP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Variables analizadas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539496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" y="2926080"/>
            <a:ext cx="51755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Tratamiento de nulos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job, marital, education, default, housing, loan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Nulos reemplazados con 'unknown' para no perder registros.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2834640"/>
            <a:ext cx="5943600" cy="1463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53328" y="2926080"/>
            <a:ext cx="57241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E7D32"/>
                </a:solidFill>
                <a:latin typeface="Calibri"/>
              </a:rPr>
              <a:t>Feature Engineering (variables </a:t>
            </a:r>
            <a:r>
              <a:rPr sz="1400" b="1" dirty="0" err="1">
                <a:solidFill>
                  <a:srgbClr val="2E7D32"/>
                </a:solidFill>
                <a:latin typeface="Calibri"/>
              </a:rPr>
              <a:t>creadas</a:t>
            </a:r>
            <a:r>
              <a:rPr sz="1400" b="1" dirty="0">
                <a:solidFill>
                  <a:srgbClr val="2E7D32"/>
                </a:solidFill>
                <a:latin typeface="Calibri"/>
              </a:rPr>
              <a:t>)</a:t>
            </a:r>
          </a:p>
          <a:p>
            <a:pPr algn="l">
              <a:spcBef>
                <a:spcPts val="300"/>
              </a:spcBef>
            </a:pPr>
            <a:r>
              <a:rPr sz="1200" dirty="0" err="1">
                <a:solidFill>
                  <a:srgbClr val="333333"/>
                </a:solidFill>
                <a:latin typeface="Calibri"/>
              </a:rPr>
              <a:t>q_age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 -&gt; 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Cuartiles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edad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(Q1 a Q4)</a:t>
            </a:r>
          </a:p>
          <a:p>
            <a:pPr algn="l">
              <a:spcBef>
                <a:spcPts val="300"/>
              </a:spcBef>
            </a:pPr>
            <a:r>
              <a:rPr sz="1200" dirty="0" err="1">
                <a:solidFill>
                  <a:srgbClr val="333333"/>
                </a:solidFill>
                <a:latin typeface="Calibri"/>
              </a:rPr>
              <a:t>job_cat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 -&gt;  Formal / Informal / No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Remunerado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/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Otros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dirty="0" err="1">
                <a:solidFill>
                  <a:srgbClr val="333333"/>
                </a:solidFill>
                <a:latin typeface="Calibri"/>
              </a:rPr>
              <a:t>contactado_antes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 -&gt;  1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si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pdays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es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diferente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de 999</a:t>
            </a:r>
            <a:endParaRPr lang="es-EC" sz="1200" dirty="0">
              <a:solidFill>
                <a:srgbClr val="333333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lang="es-EC" sz="1200" dirty="0" err="1">
                <a:solidFill>
                  <a:srgbClr val="333333"/>
                </a:solidFill>
                <a:latin typeface="Calibri"/>
              </a:rPr>
              <a:t>edu_cat</a:t>
            </a:r>
            <a:r>
              <a:rPr lang="es-EC" sz="1200" dirty="0">
                <a:solidFill>
                  <a:srgbClr val="333333"/>
                </a:solidFill>
                <a:latin typeface="Calibri"/>
              </a:rPr>
              <a:t> -&gt; Agrupación de educación básica “Basic”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11612880" cy="2011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84048" y="4663440"/>
            <a:ext cx="1139342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Calibri"/>
              </a:rPr>
              <a:t>Estadisticas clave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age: min 17 - max 98  |  media 40 anios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duration: media 257 segundos (4.3 minutos por llamada)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campaign: media 2.57 contactos por cliente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pdays = 999 en el 77 % de los registros (nunca contactados antes)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VARIABLE OBJETIVO: Contrato el deposito? (y)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8229600" cy="1463040"/>
          </a:xfrm>
          <a:prstGeom prst="rect">
            <a:avLst/>
          </a:prstGeom>
          <a:solidFill>
            <a:srgbClr val="D95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NO contrato  -  36,712 clientes  (88.73 %)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108960"/>
            <a:ext cx="109728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31546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6118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4,664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14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11.27%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846320"/>
            <a:ext cx="11430000" cy="1828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4937759"/>
            <a:ext cx="1121054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Implicaciones del desbalance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El dataset esta DESBALANCEADO: 9 de cada 10 clientes NO contratan.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La tasa de conversion global es del 11.27 %.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Este desbalance debe tenerse en cuenta al interpretar los resultados.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Objetivo: identificar variables que eleven la tasa por encima del promedio.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ANALISIS POR EDAD (q_age)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Q1  17-32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371600"/>
            <a:ext cx="6479627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31386" y="1280160"/>
            <a:ext cx="151223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E7D32"/>
                </a:solidFill>
                <a:latin typeface="Calibri"/>
              </a:rPr>
              <a:t>13.7 %</a:t>
            </a:r>
            <a:endParaRPr lang="es-EC" sz="1300" b="1" dirty="0">
              <a:solidFill>
                <a:srgbClr val="2E7D32"/>
              </a:solidFill>
              <a:latin typeface="Calibri"/>
            </a:endParaRPr>
          </a:p>
          <a:p>
            <a:pPr algn="l"/>
            <a:r>
              <a:rPr lang="es-EC" sz="1300" b="1" dirty="0">
                <a:solidFill>
                  <a:srgbClr val="2E7D32"/>
                </a:solidFill>
                <a:latin typeface="Calibri"/>
              </a:rPr>
              <a:t>(27.1 % población)</a:t>
            </a:r>
            <a:endParaRPr sz="13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20107" y="128016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333333"/>
                </a:solidFill>
                <a:latin typeface="Calibri"/>
              </a:rPr>
              <a:t>&lt;- Mayor </a:t>
            </a:r>
            <a:r>
              <a:rPr sz="1100" b="0" dirty="0" err="1">
                <a:solidFill>
                  <a:srgbClr val="333333"/>
                </a:solidFill>
                <a:latin typeface="Calibri"/>
              </a:rPr>
              <a:t>tasa</a:t>
            </a:r>
            <a:r>
              <a:rPr sz="1100" b="0" dirty="0">
                <a:solidFill>
                  <a:srgbClr val="333333"/>
                </a:solidFill>
                <a:latin typeface="Calibri"/>
              </a:rPr>
              <a:t> (</a:t>
            </a:r>
            <a:r>
              <a:rPr sz="1100" b="0" dirty="0" err="1">
                <a:solidFill>
                  <a:srgbClr val="333333"/>
                </a:solidFill>
                <a:latin typeface="Calibri"/>
              </a:rPr>
              <a:t>empate</a:t>
            </a:r>
            <a:r>
              <a:rPr sz="1100" b="0" dirty="0">
                <a:solidFill>
                  <a:srgbClr val="333333"/>
                </a:solidFill>
                <a:latin typeface="Calibri"/>
              </a:rPr>
              <a:t> con Q4)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77439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Q2  32-38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2468879"/>
            <a:ext cx="4706006" cy="502920"/>
          </a:xfrm>
          <a:prstGeom prst="rect">
            <a:avLst/>
          </a:prstGeom>
          <a:solidFill>
            <a:srgbClr val="E6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57765" y="2377439"/>
            <a:ext cx="1627003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E65200"/>
                </a:solidFill>
                <a:latin typeface="Calibri"/>
              </a:rPr>
              <a:t>9.95 %</a:t>
            </a:r>
            <a:endParaRPr lang="es-EC" sz="1300" b="1" dirty="0">
              <a:solidFill>
                <a:srgbClr val="E65200"/>
              </a:solidFill>
              <a:latin typeface="Calibri"/>
            </a:endParaRPr>
          </a:p>
          <a:p>
            <a:r>
              <a:rPr lang="es-EC" sz="1300" b="1" dirty="0">
                <a:solidFill>
                  <a:srgbClr val="E65200"/>
                </a:solidFill>
              </a:rPr>
              <a:t>(24.29 % población)</a:t>
            </a:r>
          </a:p>
          <a:p>
            <a:pPr algn="l"/>
            <a:endParaRPr sz="1300" b="1" dirty="0">
              <a:solidFill>
                <a:srgbClr val="E65200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5760" y="34747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Q3  38-47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566160"/>
            <a:ext cx="3708049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9808" y="3474720"/>
            <a:ext cx="1540607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CC0000"/>
                </a:solidFill>
                <a:latin typeface="Calibri"/>
              </a:rPr>
              <a:t>7.84 %</a:t>
            </a:r>
            <a:endParaRPr lang="es-EC" sz="1300" b="1" dirty="0">
              <a:solidFill>
                <a:srgbClr val="CC0000"/>
              </a:solidFill>
              <a:latin typeface="Calibri"/>
            </a:endParaRPr>
          </a:p>
          <a:p>
            <a:pPr algn="l"/>
            <a:r>
              <a:rPr lang="es-EC" sz="1300" b="1" dirty="0">
                <a:solidFill>
                  <a:srgbClr val="CC0000"/>
                </a:solidFill>
                <a:latin typeface="Calibri"/>
              </a:rPr>
              <a:t>(24,63 % población)</a:t>
            </a:r>
            <a:endParaRPr sz="1300" b="1" dirty="0">
              <a:solidFill>
                <a:srgbClr val="CC000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31993" y="347472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Calibri"/>
              </a:rPr>
              <a:t>&lt;- Menor tasa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572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Q4  47-98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4663440"/>
            <a:ext cx="6333008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4767" y="4572000"/>
            <a:ext cx="159042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2E7D32"/>
                </a:solidFill>
                <a:latin typeface="Calibri"/>
              </a:rPr>
              <a:t>13.39 %</a:t>
            </a:r>
            <a:endParaRPr lang="es-EC" sz="1300" b="1" dirty="0">
              <a:solidFill>
                <a:srgbClr val="2E7D32"/>
              </a:solidFill>
              <a:latin typeface="Calibri"/>
            </a:endParaRPr>
          </a:p>
          <a:p>
            <a:pPr algn="l"/>
            <a:r>
              <a:rPr lang="es-EC" sz="1300" b="1" dirty="0">
                <a:solidFill>
                  <a:srgbClr val="2E7D32"/>
                </a:solidFill>
                <a:latin typeface="Calibri"/>
              </a:rPr>
              <a:t>(23,97 % población)</a:t>
            </a:r>
            <a:endParaRPr sz="1300" b="1" dirty="0">
              <a:solidFill>
                <a:srgbClr val="2E7D32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74656" y="4572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333333"/>
                </a:solidFill>
                <a:latin typeface="Calibri"/>
              </a:rPr>
              <a:t>&lt;- Mayor </a:t>
            </a:r>
            <a:r>
              <a:rPr sz="1100" b="0" dirty="0" err="1">
                <a:solidFill>
                  <a:srgbClr val="333333"/>
                </a:solidFill>
                <a:latin typeface="Calibri"/>
              </a:rPr>
              <a:t>tasa</a:t>
            </a:r>
            <a:r>
              <a:rPr sz="1100" b="0" dirty="0">
                <a:solidFill>
                  <a:srgbClr val="333333"/>
                </a:solidFill>
                <a:latin typeface="Calibri"/>
              </a:rPr>
              <a:t> (</a:t>
            </a:r>
            <a:r>
              <a:rPr sz="1100" b="0" dirty="0" err="1">
                <a:solidFill>
                  <a:srgbClr val="333333"/>
                </a:solidFill>
                <a:latin typeface="Calibri"/>
              </a:rPr>
              <a:t>empate</a:t>
            </a:r>
            <a:r>
              <a:rPr sz="1100" b="0" dirty="0">
                <a:solidFill>
                  <a:srgbClr val="333333"/>
                </a:solidFill>
                <a:latin typeface="Calibri"/>
              </a:rPr>
              <a:t> con Q1)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532120"/>
            <a:ext cx="1143000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5623559"/>
            <a:ext cx="112105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Conclusion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Los extremos de edad tienen tasas del ~13.7 %, casi el DOBLE que el grupo 38-47.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El grupo 38-47 anios tiene la MENOR tasa de conversion: 7.84 %.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Recomendacion: enfocar la campana en clientes jovenes y mayores de 47 anios.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ANALISIS POR NIVEL EDUCATIVO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University degree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1252728"/>
            <a:ext cx="6017483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00763" y="11887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  <a:latin typeface="Calibri"/>
              </a:rPr>
              <a:t>13.71 %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9186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Professional 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355868"/>
            <a:ext cx="4977262" cy="45720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60542" y="229186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3A047"/>
                </a:solidFill>
                <a:latin typeface="Calibri"/>
              </a:rPr>
              <a:t>11.34 %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324662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High school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388670"/>
            <a:ext cx="4766584" cy="457200"/>
          </a:xfrm>
          <a:prstGeom prst="rect">
            <a:avLst/>
          </a:prstGeom>
          <a:solidFill>
            <a:srgbClr val="E6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9864" y="3324662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200"/>
                </a:solidFill>
                <a:latin typeface="Calibri"/>
              </a:rPr>
              <a:t>10.86 %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346919"/>
            <a:ext cx="28346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333333"/>
                </a:solidFill>
                <a:latin typeface="Calibri"/>
              </a:rPr>
              <a:t>Basic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4410927"/>
            <a:ext cx="3699296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91136" y="4346919"/>
            <a:ext cx="914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>
                <a:solidFill>
                  <a:srgbClr val="CC0000"/>
                </a:solidFill>
                <a:latin typeface="Calibri"/>
              </a:rPr>
              <a:t>8.</a:t>
            </a:r>
            <a:r>
              <a:rPr lang="es-MX" sz="1200" b="1" dirty="0">
                <a:solidFill>
                  <a:srgbClr val="CC0000"/>
                </a:solidFill>
                <a:latin typeface="Calibri"/>
              </a:rPr>
              <a:t>7</a:t>
            </a:r>
            <a:r>
              <a:rPr sz="1200" b="1" dirty="0">
                <a:solidFill>
                  <a:srgbClr val="CC0000"/>
                </a:solidFill>
                <a:latin typeface="Calibri"/>
              </a:rPr>
              <a:t>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5321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Basic 9y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5596128"/>
            <a:ext cx="3427902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1182" y="553212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C0000"/>
                </a:solidFill>
                <a:latin typeface="Calibri"/>
              </a:rPr>
              <a:t>7.81 %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11430000" cy="960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" y="5440679"/>
            <a:ext cx="11210544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CC0000"/>
                </a:solidFill>
                <a:latin typeface="Calibri"/>
              </a:rPr>
              <a:t>Conclusion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333333"/>
                </a:solidFill>
                <a:latin typeface="Calibri"/>
              </a:rPr>
              <a:t>A mayor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nivel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educativo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-&gt; mayor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tasa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de conversion.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333333"/>
                </a:solidFill>
                <a:latin typeface="Calibri"/>
              </a:rPr>
              <a:t>Universidad (13.71 %) vs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Basica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(</a:t>
            </a:r>
            <a:r>
              <a:rPr lang="es-EC" sz="1200" dirty="0">
                <a:solidFill>
                  <a:srgbClr val="333333"/>
                </a:solidFill>
                <a:latin typeface="Calibri"/>
              </a:rPr>
              <a:t>8</a:t>
            </a:r>
            <a:r>
              <a:rPr sz="1200" dirty="0">
                <a:solidFill>
                  <a:srgbClr val="333333"/>
                </a:solidFill>
                <a:latin typeface="Calibri"/>
              </a:rPr>
              <a:t>.</a:t>
            </a:r>
            <a:r>
              <a:rPr lang="es-EC" sz="1200" dirty="0">
                <a:solidFill>
                  <a:srgbClr val="333333"/>
                </a:solidFill>
                <a:latin typeface="Calibri"/>
              </a:rPr>
              <a:t>72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%)</a:t>
            </a:r>
          </a:p>
          <a:p>
            <a:pPr algn="l">
              <a:spcBef>
                <a:spcPts val="300"/>
              </a:spcBef>
            </a:pPr>
            <a:r>
              <a:rPr sz="1200" dirty="0" err="1">
                <a:solidFill>
                  <a:srgbClr val="333333"/>
                </a:solidFill>
                <a:latin typeface="Calibri"/>
              </a:rPr>
              <a:t>Recomendacion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: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adaptar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el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mensaje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segun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el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perfil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educativo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del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segmento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objetivo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ANALISIS POR CATEGORIA DE EMPLEO (job_cat)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34440"/>
            <a:ext cx="777240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No Remunerado  (student, unemployed)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37160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7D32"/>
                </a:solidFill>
                <a:latin typeface="Calibri"/>
              </a:rPr>
              <a:t>~18-20 %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468880"/>
            <a:ext cx="5943600" cy="822960"/>
          </a:xfrm>
          <a:prstGeom prst="rect">
            <a:avLst/>
          </a:prstGeom>
          <a:solidFill>
            <a:srgbClr val="E6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60604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Formal  (admin, management, retired)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5200"/>
                </a:solidFill>
                <a:latin typeface="Calibri"/>
              </a:rPr>
              <a:t>~11-12 %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703320"/>
            <a:ext cx="4572000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Informal  (blue-collar, services...)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4048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0000"/>
                </a:solidFill>
                <a:latin typeface="Calibri"/>
              </a:rPr>
              <a:t>~8-10 %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937760"/>
            <a:ext cx="4114800" cy="8229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50749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Otros  (unknown)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074920"/>
            <a:ext cx="1463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285F4"/>
                </a:solidFill>
                <a:latin typeface="Calibri"/>
              </a:rPr>
              <a:t>~12 %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623560"/>
            <a:ext cx="11430000" cy="1280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" y="5715000"/>
            <a:ext cx="112105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Conclusion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Estudiantes y desempleados tienen las tasas de conversion MAS ALTAS (~18-20 %).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Trabajadores informales (blue-collar) tienen la tasa mas baja (~8-10 %).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Recomendacion: segmentar por tipo de empleo y priorizar 'No Remunerado'.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CANAL DE CONTACTO: Celular vs Telefono fijo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5029200" cy="3200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CELULAR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14.76 %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tasa de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FFCC"/>
                </a:solidFill>
                <a:latin typeface="Calibri"/>
              </a:rPr>
              <a:t>26,260 clientes contactados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80160"/>
            <a:ext cx="5029200" cy="3200400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26480" y="146304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TELEFONO FIJO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0312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"/>
              </a:rPr>
              <a:t>5.21 %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1089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tasa de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5661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CCCC"/>
                </a:solidFill>
                <a:latin typeface="Calibri"/>
              </a:rPr>
              <a:t>15,116 clientes contactados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2860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C0000"/>
                </a:solidFill>
                <a:latin typeface="Calibri"/>
              </a:rPr>
              <a:t>2.83x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01752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333333"/>
                </a:solidFill>
                <a:latin typeface="Calibri"/>
              </a:rPr>
              <a:t>mas efectivo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754880"/>
            <a:ext cx="1133856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" y="4846320"/>
            <a:ext cx="111191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Conclusion critica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El celular es 2.83 veces mas efectivo que el telefono fijo.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Recomendacion: priorizar el contacto por celular en todas las campanas futuras.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RESULTADO DE CAMPANA ANTERIOR (poutcome)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3474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SUCCESS
(exito anterior)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65.05 %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EEEEE"/>
                </a:solidFill>
                <a:latin typeface="Calibri"/>
              </a:rPr>
              <a:t>897 / 1,379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conversion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280160"/>
            <a:ext cx="3474720" cy="3474720"/>
          </a:xfrm>
          <a:prstGeom prst="rect">
            <a:avLst/>
          </a:prstGeom>
          <a:solidFill>
            <a:srgbClr val="E6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20" y="13716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FAILURE
(fallo antes)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194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14.24 %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EEEEE"/>
                </a:solidFill>
                <a:latin typeface="Calibri"/>
              </a:rPr>
              <a:t>608 / 4,270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conversion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474720" cy="3474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291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NONEXISTENT
(nunca contactado)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Calibri"/>
              </a:rPr>
              <a:t>8.84 %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EEEEE"/>
                </a:solidFill>
                <a:latin typeface="Calibri"/>
              </a:rPr>
              <a:t>3,159 / 35,727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conversion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029200"/>
            <a:ext cx="11430000" cy="1645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5120640"/>
            <a:ext cx="11210544" cy="977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 err="1">
                <a:solidFill>
                  <a:srgbClr val="CC0000"/>
                </a:solidFill>
                <a:latin typeface="Calibri"/>
              </a:rPr>
              <a:t>Hallazgo</a:t>
            </a:r>
            <a:r>
              <a:rPr sz="1400" b="1" dirty="0">
                <a:solidFill>
                  <a:srgbClr val="CC0000"/>
                </a:solidFill>
                <a:latin typeface="Calibri"/>
              </a:rPr>
              <a:t> CRITICO</a:t>
            </a:r>
          </a:p>
          <a:p>
            <a:pPr algn="l">
              <a:spcBef>
                <a:spcPts val="300"/>
              </a:spcBef>
            </a:pPr>
            <a:r>
              <a:rPr sz="1200" dirty="0" err="1">
                <a:solidFill>
                  <a:srgbClr val="333333"/>
                </a:solidFill>
                <a:latin typeface="Calibri"/>
              </a:rPr>
              <a:t>Clientes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con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exito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anterior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tienen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65 % de conversion.</a:t>
            </a:r>
            <a:r>
              <a:rPr lang="es-EC" sz="1200" dirty="0">
                <a:solidFill>
                  <a:srgbClr val="333333"/>
                </a:solidFill>
                <a:latin typeface="Calibri"/>
              </a:rPr>
              <a:t> Alineado con tasa de éxito de </a:t>
            </a:r>
            <a:r>
              <a:rPr lang="es-EC" sz="1200" b="1" dirty="0">
                <a:solidFill>
                  <a:srgbClr val="333333"/>
                </a:solidFill>
                <a:latin typeface="Calibri"/>
              </a:rPr>
              <a:t>63,77% </a:t>
            </a:r>
            <a:r>
              <a:rPr lang="es-EC" sz="1200" dirty="0">
                <a:solidFill>
                  <a:srgbClr val="333333"/>
                </a:solidFill>
                <a:latin typeface="Calibri"/>
              </a:rPr>
              <a:t>en personas que fueron contactadas en la campaña anterior (970/1521) 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333333"/>
                </a:solidFill>
                <a:latin typeface="Calibri"/>
              </a:rPr>
              <a:t>Este es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el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segmento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de MAYOR ROI de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toda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la base de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datos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Bef>
                <a:spcPts val="300"/>
              </a:spcBef>
            </a:pPr>
            <a:r>
              <a:rPr sz="1200" dirty="0" err="1">
                <a:solidFill>
                  <a:srgbClr val="333333"/>
                </a:solidFill>
                <a:latin typeface="Calibri"/>
              </a:rPr>
              <a:t>Recomendacion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URGENTE: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crear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lista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prioritaria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de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clientes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con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exito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campanas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anteriores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TEMPORALIDAD: Mes y Dia del Contacto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Meses con mayor tasa de conversion: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45920"/>
            <a:ext cx="118872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6642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~50 %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645920"/>
            <a:ext cx="118872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16642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116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~47 %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645920"/>
            <a:ext cx="118872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0" y="16642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0116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~44 %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1645920"/>
            <a:ext cx="118872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66420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~42 %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651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Meses medios: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63240"/>
            <a:ext cx="1188720" cy="822960"/>
          </a:xfrm>
          <a:prstGeom prst="rect">
            <a:avLst/>
          </a:prstGeom>
          <a:solidFill>
            <a:srgbClr val="E6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081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472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~29 %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37360" y="3063240"/>
            <a:ext cx="1188720" cy="822960"/>
          </a:xfrm>
          <a:prstGeom prst="rect">
            <a:avLst/>
          </a:prstGeom>
          <a:solidFill>
            <a:srgbClr val="E6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828800" y="3081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feb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4472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~29 %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3063240"/>
            <a:ext cx="1188720" cy="822960"/>
          </a:xfrm>
          <a:prstGeom prst="rect">
            <a:avLst/>
          </a:prstGeom>
          <a:solidFill>
            <a:srgbClr val="E6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3081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4472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~30 %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3063240"/>
            <a:ext cx="1188720" cy="822960"/>
          </a:xfrm>
          <a:prstGeom prst="rect">
            <a:avLst/>
          </a:prstGeom>
          <a:solidFill>
            <a:srgbClr val="E6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308152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44728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~24 %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0690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Meses con menor tasa: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480560"/>
            <a:ext cx="1188720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49884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64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~14 %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37360" y="4480560"/>
            <a:ext cx="1188720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8800" y="449884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864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~11 %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4480560"/>
            <a:ext cx="1188720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0" y="449884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864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~10 %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0560" y="4480560"/>
            <a:ext cx="1188720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0" y="449884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486460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~9 %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Calibri"/>
              </a:rPr>
              <a:t>Tasa por dia (sin diferencias significativas):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1645920"/>
            <a:ext cx="4267199" cy="5943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0" y="17190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Mon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62360" y="1719072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11.2%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49440" y="2441448"/>
            <a:ext cx="4381500" cy="5943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00800" y="2514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Tue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376660" y="2514600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11.5%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49440" y="3236976"/>
            <a:ext cx="4305300" cy="5943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00800" y="33101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Wed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00460" y="3310128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11.3%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49440" y="4032504"/>
            <a:ext cx="4381500" cy="5943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00800" y="410565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Thu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76660" y="4105656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11.5%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49440" y="4828032"/>
            <a:ext cx="4190999" cy="59436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0" y="490118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Fri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86160" y="4901184"/>
            <a:ext cx="777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33333"/>
                </a:solidFill>
                <a:latin typeface="Calibri"/>
              </a:rPr>
              <a:t>11.0%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532120"/>
            <a:ext cx="11430000" cy="12344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75488" y="5623559"/>
            <a:ext cx="1121054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Conclusion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Concentrar campanas en: marzo, septiembre, octubre y diciembre.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Reducir llamadas en: mayo, julio, agosto y noviembre.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Los dias de la semana tienen diferencias minimas (~11 % todos).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PERFIL FINANCIERO DEL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0000"/>
                </a:solidFill>
                <a:latin typeface="Calibri"/>
              </a:rPr>
              <a:t>DEFAULT
(credito en mora)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36576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031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11.5 %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200400"/>
            <a:ext cx="36576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C0000"/>
                </a:solidFill>
                <a:latin typeface="Calibri"/>
              </a:rPr>
              <a:t>3.0 %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389120"/>
            <a:ext cx="36576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44805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Unknown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4805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Calibri"/>
              </a:rPr>
              <a:t>9.5 %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188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0000"/>
                </a:solidFill>
                <a:latin typeface="Calibri"/>
              </a:rPr>
              <a:t>HOUSING
(hipoteca)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011680"/>
            <a:ext cx="36576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89120" y="21031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031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13.0 %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3200400"/>
            <a:ext cx="36576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5200"/>
                </a:solidFill>
                <a:latin typeface="Calibri"/>
              </a:rPr>
              <a:t>10.0 %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4389120"/>
            <a:ext cx="36576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89120" y="44805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Unknown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44805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Calibri"/>
              </a:rPr>
              <a:t>12.0 %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1887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C0000"/>
                </a:solidFill>
                <a:latin typeface="Calibri"/>
              </a:rPr>
              <a:t>LOAN
(prestamo personal)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011680"/>
            <a:ext cx="36576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21031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0" y="210312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Calibri"/>
              </a:rPr>
              <a:t>11.8 %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200400"/>
            <a:ext cx="36576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2104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Yes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2918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5200"/>
                </a:solidFill>
                <a:latin typeface="Calibri"/>
              </a:rPr>
              <a:t>8.5 %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389120"/>
            <a:ext cx="3657600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21040" y="44805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Unknown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448056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33333"/>
                </a:solidFill>
                <a:latin typeface="Calibri"/>
              </a:rPr>
              <a:t>12.0 %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669280"/>
            <a:ext cx="114300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" y="5760720"/>
            <a:ext cx="112105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0000"/>
                </a:solidFill>
                <a:latin typeface="Calibri"/>
              </a:rPr>
              <a:t>Conclusion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Clientes SIN mora, SIN hipoteca y SIN prestamo tienen las mayores tasas.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Tener credito en mora (default=yes) reduce la conversion a solo ~3 %.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Recomendacion: usar perfil financiero limpio como criterio de filtro en campanas.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ANALISIS CON TABLAS CRUZADAS (pd.crosstab)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143000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1280160"/>
            <a:ext cx="11210544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1300" b="1" dirty="0">
                <a:solidFill>
                  <a:srgbClr val="CC0000"/>
                </a:solidFill>
                <a:latin typeface="Calibri"/>
              </a:rPr>
              <a:t>Campaña Anterior vs Contratación</a:t>
            </a:r>
            <a:endParaRPr sz="1300" b="1" dirty="0">
              <a:solidFill>
                <a:srgbClr val="CC000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  <a:latin typeface="Calibri"/>
              </a:rPr>
              <a:t>Success -&gt; 65.05 %  |  Failure -&gt; 14.24 %  |  Nonexistent -&gt; 8.84 %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1143000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2194560"/>
            <a:ext cx="11210544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1300" b="1" dirty="0">
                <a:solidFill>
                  <a:srgbClr val="E65200"/>
                </a:solidFill>
                <a:latin typeface="Calibri"/>
              </a:rPr>
              <a:t>Tipo de Contacto vs Contratación</a:t>
            </a:r>
            <a:endParaRPr sz="1300" b="1" dirty="0">
              <a:solidFill>
                <a:srgbClr val="E6520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100" dirty="0" err="1">
                <a:solidFill>
                  <a:srgbClr val="333333"/>
                </a:solidFill>
                <a:latin typeface="Calibri"/>
              </a:rPr>
              <a:t>Celular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-&gt; 14.76 %    |    </a:t>
            </a:r>
            <a:r>
              <a:rPr sz="1100" dirty="0" err="1">
                <a:solidFill>
                  <a:srgbClr val="333333"/>
                </a:solidFill>
                <a:latin typeface="Calibri"/>
              </a:rPr>
              <a:t>Telefono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Calibri"/>
              </a:rPr>
              <a:t>fijo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-&gt; 5.21 %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17520"/>
            <a:ext cx="1143000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3108960"/>
            <a:ext cx="11210544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1300" b="1" dirty="0">
                <a:solidFill>
                  <a:srgbClr val="2E7D32"/>
                </a:solidFill>
                <a:latin typeface="Calibri"/>
              </a:rPr>
              <a:t>Educación vs Contratación (se excluye “Iliterate” por ser una muestra pequeña de 18)</a:t>
            </a:r>
            <a:endParaRPr sz="1300" b="1" dirty="0">
              <a:solidFill>
                <a:srgbClr val="2E7D32"/>
              </a:solidFill>
              <a:latin typeface="Calibri"/>
            </a:endParaRPr>
          </a:p>
          <a:p>
            <a:pPr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  <a:latin typeface="Calibri"/>
              </a:rPr>
              <a:t>University -&gt; 13.71 % | Professional -&gt; 11.34 % | High school -&gt; 10.86 % | Basic -&gt; </a:t>
            </a:r>
            <a:r>
              <a:rPr lang="es-EC" sz="1100" dirty="0">
                <a:solidFill>
                  <a:srgbClr val="333333"/>
                </a:solidFill>
                <a:latin typeface="Calibri"/>
              </a:rPr>
              <a:t>8</a:t>
            </a:r>
            <a:r>
              <a:rPr sz="1100" dirty="0">
                <a:solidFill>
                  <a:srgbClr val="333333"/>
                </a:solidFill>
                <a:latin typeface="Calibri"/>
              </a:rPr>
              <a:t>.</a:t>
            </a:r>
            <a:r>
              <a:rPr lang="es-EC" sz="1100" dirty="0">
                <a:solidFill>
                  <a:srgbClr val="333333"/>
                </a:solidFill>
                <a:latin typeface="Calibri"/>
              </a:rPr>
              <a:t>72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%</a:t>
            </a:r>
            <a:r>
              <a:rPr lang="es-EC" sz="1100" dirty="0">
                <a:solidFill>
                  <a:srgbClr val="333333"/>
                </a:solidFill>
              </a:rPr>
              <a:t> | Otros -&gt; 14.52 %</a:t>
            </a:r>
            <a:endParaRPr sz="11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3931920"/>
            <a:ext cx="1143000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4023359"/>
            <a:ext cx="11210544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1300" b="1" dirty="0">
                <a:solidFill>
                  <a:srgbClr val="4285F4"/>
                </a:solidFill>
                <a:latin typeface="Calibri"/>
              </a:rPr>
              <a:t>Rango de Edad vs Contratación</a:t>
            </a:r>
            <a:endParaRPr sz="1300" b="1" dirty="0">
              <a:solidFill>
                <a:srgbClr val="4285F4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  <a:latin typeface="Calibri"/>
              </a:rPr>
              <a:t>Q1 (17-32) -&gt; 13.70 %  |  Q2 (32-38) -&gt; 9.95 %  |  Q3 (38-47) -&gt; 7.84 %  |  Q4 (47+) -&gt; 13.39 %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846320"/>
            <a:ext cx="1143000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" y="4937759"/>
            <a:ext cx="11210544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1300" b="1" dirty="0">
                <a:solidFill>
                  <a:srgbClr val="333333"/>
                </a:solidFill>
                <a:latin typeface="Calibri"/>
              </a:rPr>
              <a:t>Estado Civil vs Contratación</a:t>
            </a:r>
            <a:endParaRPr sz="1300" b="1" dirty="0">
              <a:solidFill>
                <a:srgbClr val="333333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  <a:latin typeface="Calibri"/>
              </a:rPr>
              <a:t>Single -&gt; mayor </a:t>
            </a:r>
            <a:r>
              <a:rPr sz="1100" dirty="0" err="1">
                <a:solidFill>
                  <a:srgbClr val="333333"/>
                </a:solidFill>
                <a:latin typeface="Calibri"/>
              </a:rPr>
              <a:t>tasa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</a:t>
            </a:r>
            <a:r>
              <a:rPr lang="es-EC" sz="1100" dirty="0">
                <a:solidFill>
                  <a:srgbClr val="333333"/>
                </a:solidFill>
                <a:latin typeface="Calibri"/>
              </a:rPr>
              <a:t>-&gt; 14%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|  Married -&gt; </a:t>
            </a:r>
            <a:r>
              <a:rPr sz="1100" dirty="0" err="1">
                <a:solidFill>
                  <a:srgbClr val="333333"/>
                </a:solidFill>
                <a:latin typeface="Calibri"/>
              </a:rPr>
              <a:t>tasa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media </a:t>
            </a:r>
            <a:r>
              <a:rPr lang="es-EC" sz="1100" dirty="0">
                <a:solidFill>
                  <a:srgbClr val="333333"/>
                </a:solidFill>
                <a:latin typeface="Calibri"/>
              </a:rPr>
              <a:t>-&gt; 10.16%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|  Divorced -&gt; </a:t>
            </a:r>
            <a:r>
              <a:rPr sz="1100" dirty="0" err="1">
                <a:solidFill>
                  <a:srgbClr val="333333"/>
                </a:solidFill>
                <a:latin typeface="Calibri"/>
              </a:rPr>
              <a:t>menor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333333"/>
                </a:solidFill>
                <a:latin typeface="Calibri"/>
              </a:rPr>
              <a:t>tasa</a:t>
            </a:r>
            <a:r>
              <a:rPr lang="es-EC" sz="1100" dirty="0">
                <a:solidFill>
                  <a:srgbClr val="333333"/>
                </a:solidFill>
                <a:latin typeface="Calibri"/>
              </a:rPr>
              <a:t> -&gt; 10.38%</a:t>
            </a:r>
            <a:endParaRPr sz="11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65760" y="5760720"/>
            <a:ext cx="11430000" cy="8046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" y="5852159"/>
            <a:ext cx="11210544" cy="500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C" sz="1300" b="1" dirty="0">
                <a:solidFill>
                  <a:srgbClr val="6A1B9A"/>
                </a:solidFill>
                <a:latin typeface="Calibri"/>
              </a:rPr>
              <a:t>Categoría Empleo vs Contratación</a:t>
            </a:r>
            <a:endParaRPr sz="1300" b="1" dirty="0">
              <a:solidFill>
                <a:srgbClr val="6A1B9A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100" dirty="0">
                <a:solidFill>
                  <a:srgbClr val="333333"/>
                </a:solidFill>
                <a:latin typeface="Calibri"/>
              </a:rPr>
              <a:t>No </a:t>
            </a:r>
            <a:r>
              <a:rPr sz="1100" dirty="0" err="1">
                <a:solidFill>
                  <a:srgbClr val="333333"/>
                </a:solidFill>
                <a:latin typeface="Calibri"/>
              </a:rPr>
              <a:t>Remunerado</a:t>
            </a:r>
            <a:r>
              <a:rPr sz="1100" dirty="0">
                <a:solidFill>
                  <a:srgbClr val="333333"/>
                </a:solidFill>
                <a:latin typeface="Calibri"/>
              </a:rPr>
              <a:t> -&gt; ~19 %  |  Formal -&gt; ~11 %  |  Informal -&gt; ~9 %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B1D20-1922-FBE6-F6D7-7409A1A9C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CA4CEB-7877-2E2D-D297-D77FE6C2F824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47743D-E8FF-A870-CD85-28CC60617308}"/>
              </a:ext>
            </a:extLst>
          </p:cNvPr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ANALISIS CON TABLAS CRUZADAS (pd.crosstab)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45CA53B3-F8D7-71B4-0447-8BA955D1C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2416"/>
            <a:ext cx="6245352" cy="2981258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2F4E684-5D63-7730-7B20-B5DA3085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32" y="3763126"/>
            <a:ext cx="7054723" cy="309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089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CONCLUSIONES Y RECOMENDACIONES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85216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1280160"/>
            <a:ext cx="5632704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CC0000"/>
                </a:solidFill>
                <a:latin typeface="Calibri"/>
              </a:rPr>
              <a:t>Top 6 </a:t>
            </a:r>
            <a:r>
              <a:rPr sz="1400" b="1" dirty="0" err="1">
                <a:solidFill>
                  <a:srgbClr val="CC0000"/>
                </a:solidFill>
                <a:latin typeface="Calibri"/>
              </a:rPr>
              <a:t>recomendaciones</a:t>
            </a:r>
            <a:r>
              <a:rPr sz="1400" b="1" dirty="0">
                <a:solidFill>
                  <a:srgbClr val="CC00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CC0000"/>
                </a:solidFill>
                <a:latin typeface="Calibri"/>
              </a:rPr>
              <a:t>operativas</a:t>
            </a:r>
            <a:endParaRPr sz="1400" b="1" dirty="0">
              <a:solidFill>
                <a:srgbClr val="CC0000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333333"/>
                </a:solidFill>
                <a:latin typeface="Calibri"/>
              </a:rPr>
              <a:t>1.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Priorizar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clientes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con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exito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campana anterior -&gt; 65 % de conversion.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333333"/>
                </a:solidFill>
                <a:latin typeface="Calibri"/>
              </a:rPr>
              <a:t>2.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Contactar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por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CELULAR, no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por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telefono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fijo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-&gt; 2.83x mas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efectivo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.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333333"/>
                </a:solidFill>
                <a:latin typeface="Calibri"/>
              </a:rPr>
              <a:t>3.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Enfocar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edades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17-32 y 47+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anios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-&gt; ~13.7 % de conversion.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333333"/>
                </a:solidFill>
                <a:latin typeface="Calibri"/>
              </a:rPr>
              <a:t>4.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Preferir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clientes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con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educacion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universitaria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-&gt; 13.71 %.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333333"/>
                </a:solidFill>
                <a:latin typeface="Calibri"/>
              </a:rPr>
              <a:t>5.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Evitar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clientes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con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credito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mora -&gt; solo 3 % de conversion.</a:t>
            </a:r>
          </a:p>
          <a:p>
            <a:pPr algn="l">
              <a:spcBef>
                <a:spcPts val="300"/>
              </a:spcBef>
            </a:pPr>
            <a:r>
              <a:rPr sz="1200" dirty="0">
                <a:solidFill>
                  <a:srgbClr val="333333"/>
                </a:solidFill>
                <a:latin typeface="Calibri"/>
              </a:rPr>
              <a:t>6.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Concentrar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campanas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en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marzo</a:t>
            </a:r>
            <a:r>
              <a:rPr lang="es-EC" sz="1200" dirty="0">
                <a:solidFill>
                  <a:srgbClr val="333333"/>
                </a:solidFill>
                <a:latin typeface="Calibri"/>
              </a:rPr>
              <a:t> (fin Q1)</a:t>
            </a:r>
            <a:r>
              <a:rPr sz="1200" dirty="0">
                <a:solidFill>
                  <a:srgbClr val="333333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septiembre</a:t>
            </a:r>
            <a:r>
              <a:rPr lang="es-EC" sz="1200" dirty="0">
                <a:solidFill>
                  <a:srgbClr val="333333"/>
                </a:solidFill>
                <a:latin typeface="Calibri"/>
              </a:rPr>
              <a:t> (fin Q2)</a:t>
            </a:r>
            <a:r>
              <a:rPr sz="1200" dirty="0">
                <a:solidFill>
                  <a:srgbClr val="333333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octubre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 y </a:t>
            </a:r>
            <a:r>
              <a:rPr sz="1200" dirty="0" err="1">
                <a:solidFill>
                  <a:srgbClr val="333333"/>
                </a:solidFill>
                <a:latin typeface="Calibri"/>
              </a:rPr>
              <a:t>diciembre</a:t>
            </a:r>
            <a:r>
              <a:rPr sz="1200" dirty="0">
                <a:solidFill>
                  <a:srgbClr val="333333"/>
                </a:solidFill>
                <a:latin typeface="Calibri"/>
              </a:rPr>
              <a:t>.</a:t>
            </a:r>
            <a:r>
              <a:rPr lang="es-EC" sz="1200" dirty="0">
                <a:solidFill>
                  <a:srgbClr val="333333"/>
                </a:solidFill>
                <a:latin typeface="Calibri"/>
              </a:rPr>
              <a:t> (Q3)</a:t>
            </a:r>
          </a:p>
          <a:p>
            <a:pPr algn="l">
              <a:spcBef>
                <a:spcPts val="300"/>
              </a:spcBef>
            </a:pPr>
            <a:r>
              <a:rPr lang="es-EC" sz="1200" dirty="0">
                <a:solidFill>
                  <a:srgbClr val="333333"/>
                </a:solidFill>
                <a:latin typeface="Calibri"/>
              </a:rPr>
              <a:t>7. Sugerir realizar campaña el fin de semana.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92240" y="1188720"/>
            <a:ext cx="5394960" cy="5029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01968" y="1280160"/>
            <a:ext cx="5175504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E7D32"/>
                </a:solidFill>
                <a:latin typeface="Calibri"/>
              </a:rPr>
              <a:t>Segmentacion propuesta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TIER 1 - Alta probabilidad: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Exito anterior + celular + universitario -&gt; ~65 %+</a:t>
            </a:r>
          </a:p>
          <a:p>
            <a:pPr algn="l">
              <a:spcBef>
                <a:spcPts val="300"/>
              </a:spcBef>
            </a:pPr>
            <a:endParaRPr sz="1200">
              <a:solidFill>
                <a:srgbClr val="333333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TIER 2 - Probabilidad media: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Joven (17-32) o mayor (47+) + celular -&gt; ~14 %</a:t>
            </a:r>
          </a:p>
          <a:p>
            <a:pPr algn="l">
              <a:spcBef>
                <a:spcPts val="300"/>
              </a:spcBef>
            </a:pPr>
            <a:endParaRPr sz="1200">
              <a:solidFill>
                <a:srgbClr val="333333"/>
              </a:solidFill>
              <a:latin typeface="Calibri"/>
            </a:endParaRP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TIER 3 - Baja prioridad:</a:t>
            </a:r>
          </a:p>
          <a:p>
            <a:pPr algn="l">
              <a:spcBef>
                <a:spcPts val="300"/>
              </a:spcBef>
            </a:pPr>
            <a:r>
              <a:rPr sz="1200">
                <a:solidFill>
                  <a:srgbClr val="333333"/>
                </a:solidFill>
                <a:latin typeface="Calibri"/>
              </a:rPr>
              <a:t>  Sin historial + telefono fijo + educacion basica -&gt; menos del 9 %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CCCCCC"/>
                </a:solidFill>
                <a:latin typeface="Calibri"/>
              </a:rPr>
              <a:t>Analitica de Campanas de Marketing - Banco Santander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dirty="0">
                <a:solidFill>
                  <a:srgbClr val="AAAAAA"/>
                </a:solidFill>
                <a:latin typeface="Calibri"/>
              </a:rPr>
              <a:t>Dataset: 41,376 </a:t>
            </a:r>
            <a:r>
              <a:rPr sz="1400" b="0" dirty="0" err="1">
                <a:solidFill>
                  <a:srgbClr val="AAAAAA"/>
                </a:solidFill>
                <a:latin typeface="Calibri"/>
              </a:rPr>
              <a:t>clientes</a:t>
            </a:r>
            <a:r>
              <a:rPr sz="1400" b="0" dirty="0">
                <a:solidFill>
                  <a:srgbClr val="AAAAAA"/>
                </a:solidFill>
                <a:latin typeface="Calibri"/>
              </a:rPr>
              <a:t> </a:t>
            </a:r>
            <a:r>
              <a:rPr lang="es-MX" sz="1400" b="0" dirty="0">
                <a:solidFill>
                  <a:srgbClr val="AAAAAA"/>
                </a:solidFill>
                <a:latin typeface="Calibri"/>
              </a:rPr>
              <a:t>  </a:t>
            </a:r>
            <a:r>
              <a:rPr sz="1400" b="0" dirty="0">
                <a:solidFill>
                  <a:srgbClr val="AAAAAA"/>
                </a:solidFill>
                <a:latin typeface="Calibri"/>
              </a:rPr>
              <a:t>|   Marzo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1372</Words>
  <Application>Microsoft Office PowerPoint</Application>
  <PresentationFormat>Personalizado</PresentationFormat>
  <Paragraphs>236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Pablo Lucero</cp:lastModifiedBy>
  <cp:revision>1</cp:revision>
  <dcterms:created xsi:type="dcterms:W3CDTF">2013-01-27T09:14:16Z</dcterms:created>
  <dcterms:modified xsi:type="dcterms:W3CDTF">2026-03-14T15:10:52Z</dcterms:modified>
  <cp:category/>
</cp:coreProperties>
</file>